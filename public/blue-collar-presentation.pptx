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Playfair Display"/>
      <p:regular r:id="rId11"/>
      <p:bold r:id="rId12"/>
      <p:italic r:id="rId13"/>
      <p:boldItalic r:id="rId14"/>
    </p:embeddedFont>
    <p:embeddedFont>
      <p:font typeface="La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PlayfairDisplay-regular.fntdata"/><Relationship Id="rId10" Type="http://schemas.openxmlformats.org/officeDocument/2006/relationships/slide" Target="slides/slide5.xml"/><Relationship Id="rId13" Type="http://schemas.openxmlformats.org/officeDocument/2006/relationships/font" Target="fonts/PlayfairDisplay-italic.fntdata"/><Relationship Id="rId12" Type="http://schemas.openxmlformats.org/officeDocument/2006/relationships/font" Target="fonts/PlayfairDisplay-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Lato-regular.fntdata"/><Relationship Id="rId14" Type="http://schemas.openxmlformats.org/officeDocument/2006/relationships/font" Target="fonts/PlayfairDisplay-boldItalic.fntdata"/><Relationship Id="rId17" Type="http://schemas.openxmlformats.org/officeDocument/2006/relationships/font" Target="fonts/Lato-italic.fntdata"/><Relationship Id="rId16"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eab0a526d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eab0a526d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While I was working as an intern in the factory, I realized how differently work is lived depending on what’s at stake. At one point, the person supervising me asked if I had kids. I laughed, because I was twenty-one.</a:t>
            </a:r>
            <a:endParaRPr/>
          </a:p>
          <a:p>
            <a:pPr indent="0" lvl="0" marL="0" rtl="0" algn="l">
              <a:lnSpc>
                <a:spcPct val="115000"/>
              </a:lnSpc>
              <a:spcBef>
                <a:spcPts val="1200"/>
              </a:spcBef>
              <a:spcAft>
                <a:spcPts val="0"/>
              </a:spcAft>
              <a:buClr>
                <a:schemeClr val="dk1"/>
              </a:buClr>
              <a:buSzPts val="1100"/>
              <a:buFont typeface="Arial"/>
              <a:buNone/>
            </a:pPr>
            <a:r>
              <a:rPr lang="en"/>
              <a:t>But afterward, that question stayed with me. It made clear that for me, the factory was temporary, while for others it’s tied to long-term responsibility, risk, and survival. That gap helped me understand how labor decisions that seem technical from the outside are shaped by life circumstances that rarely enter the official record.</a:t>
            </a:r>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d2411f70d9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d2411f70d9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My goal is to rethink blue-collar work not just as economic labor, but as a cultural and emotional archive. I look at how power shapes what gets recorded about work and what gets erased, and I develop a framework that reads labor through race, geography, gender, and collective mood. Finally, I argue that literature, culture, and lived experience function as real historical evidence, especially where official records fall short.”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d2411f70d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d2411f70d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I organize the paper around three thinkers whose work provides both a method and a vocabulary for reading blue-collar narratives. Drawing on </a:t>
            </a:r>
            <a:r>
              <a:rPr b="1" lang="en">
                <a:solidFill>
                  <a:schemeClr val="dk1"/>
                </a:solidFill>
              </a:rPr>
              <a:t>Saidiya Hartman’s </a:t>
            </a:r>
            <a:r>
              <a:rPr b="1" i="1" lang="en">
                <a:solidFill>
                  <a:schemeClr val="dk1"/>
                </a:solidFill>
              </a:rPr>
              <a:t>Wayward Lives, Beautiful Experiments</a:t>
            </a:r>
            <a:r>
              <a:rPr lang="en">
                <a:solidFill>
                  <a:schemeClr val="dk1"/>
                </a:solidFill>
              </a:rPr>
              <a:t> and her essays on archival absence, I examine how blue-collar work is often preserved only through fragments, statistics, or disciplinary records, while the interior lives of workers are systematically excluded. Hartman’s method of </a:t>
            </a:r>
            <a:r>
              <a:rPr b="1" lang="en">
                <a:solidFill>
                  <a:schemeClr val="dk1"/>
                </a:solidFill>
              </a:rPr>
              <a:t>critical fabulation</a:t>
            </a:r>
            <a:r>
              <a:rPr lang="en">
                <a:solidFill>
                  <a:schemeClr val="dk1"/>
                </a:solidFill>
              </a:rPr>
              <a:t> allows me to treat archival silence not as a lack of evidence, but as evidence of the power structures that determine whose lives are considered worth recording.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Robin D. G. Kelley’s </a:t>
            </a:r>
            <a:r>
              <a:rPr b="1" i="1" lang="en">
                <a:solidFill>
                  <a:schemeClr val="dk1"/>
                </a:solidFill>
              </a:rPr>
              <a:t>Race Rebels</a:t>
            </a:r>
            <a:r>
              <a:rPr lang="en">
                <a:solidFill>
                  <a:schemeClr val="dk1"/>
                </a:solidFill>
              </a:rPr>
              <a:t> and </a:t>
            </a:r>
            <a:r>
              <a:rPr b="1" i="1" lang="en">
                <a:solidFill>
                  <a:schemeClr val="dk1"/>
                </a:solidFill>
              </a:rPr>
              <a:t>Freedom Dreams</a:t>
            </a:r>
            <a:r>
              <a:rPr lang="en">
                <a:solidFill>
                  <a:schemeClr val="dk1"/>
                </a:solidFill>
              </a:rPr>
              <a:t> shift my focus from absence to presence by foregrounding culture, pleasure, and imagination as central to working-class life. Kelley demonstrates how music, everyday practices, and collective creativity generate meaning and political possibility even under conditions of constraint, enabling me to read blue-collar narratives not solely as records of exploitation, but as sites of dignity, community, and futurity.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 </a:t>
            </a:r>
            <a:r>
              <a:rPr b="1" lang="en">
                <a:solidFill>
                  <a:schemeClr val="dk1"/>
                </a:solidFill>
              </a:rPr>
              <a:t>Jonathan Flatley’s </a:t>
            </a:r>
            <a:r>
              <a:rPr b="1" i="1" lang="en">
                <a:solidFill>
                  <a:schemeClr val="dk1"/>
                </a:solidFill>
              </a:rPr>
              <a:t>Affective Mapping</a:t>
            </a:r>
            <a:r>
              <a:rPr lang="en">
                <a:solidFill>
                  <a:schemeClr val="dk1"/>
                </a:solidFill>
              </a:rPr>
              <a:t> provides a way to analyze how labor produces </a:t>
            </a:r>
            <a:r>
              <a:rPr b="1" lang="en">
                <a:solidFill>
                  <a:schemeClr val="dk1"/>
                </a:solidFill>
              </a:rPr>
              <a:t>shared moods</a:t>
            </a:r>
            <a:r>
              <a:rPr lang="en">
                <a:solidFill>
                  <a:schemeClr val="dk1"/>
                </a:solidFill>
              </a:rPr>
              <a:t> rather than simply individual emotions. Flatley’s theory of collective affect helps me understand exhaustion, pressure, and pride as socially produced conditions that circulate through workplaces and communities, rather than as personal psychological states.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Together, these approaches allow me to read blue-collar narratives as </a:t>
            </a:r>
            <a:r>
              <a:rPr b="1" lang="en">
                <a:solidFill>
                  <a:schemeClr val="dk1"/>
                </a:solidFill>
              </a:rPr>
              <a:t>cultural archives</a:t>
            </a:r>
            <a:r>
              <a:rPr lang="en">
                <a:solidFill>
                  <a:schemeClr val="dk1"/>
                </a:solidFill>
              </a:rPr>
              <a:t> shaped by race, geography, gender, and affect—archives that preserve what official records often flatten or erase.</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d2411f70d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d2411f70d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slide brings together the two ways race shapes blue-collar labor in the archive.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the left, we see Black women whose labor was essential but historically minimized. Their work survived, but their inner lives and presence were largely erased. This reflects what Saidiya Hartman calls archival absence — not the absence of evidence, but the absence of care in recording certain lives.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the right, Jacob Lawrence’s </a:t>
            </a:r>
            <a:r>
              <a:rPr i="1" lang="en">
                <a:solidFill>
                  <a:schemeClr val="dk1"/>
                </a:solidFill>
              </a:rPr>
              <a:t>Migration Series</a:t>
            </a:r>
            <a:r>
              <a:rPr lang="en">
                <a:solidFill>
                  <a:schemeClr val="dk1"/>
                </a:solidFill>
              </a:rPr>
              <a:t> shows how Black labor is also preserved collectively, rather than individually. Migration is presented not as personal escape, but as organized labor movement shaped by industrial demand and racial constraint.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Together, these images show how racialized labor oscillates between invisibility and collective representation, rather than full recognition as individual historical subjects.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 name="Google Shape;12;p2"/>
          <p:cNvCxnSpPr/>
          <p:nvPr/>
        </p:nvCxnSpPr>
        <p:spPr>
          <a:xfrm>
            <a:off x="733219" y="2235351"/>
            <a:ext cx="385200" cy="0"/>
          </a:xfrm>
          <a:prstGeom prst="straightConnector1">
            <a:avLst/>
          </a:prstGeom>
          <a:noFill/>
          <a:ln cap="flat" cmpd="sng" w="28575">
            <a:solidFill>
              <a:schemeClr val="dk1"/>
            </a:solidFill>
            <a:prstDash val="solid"/>
            <a:round/>
            <a:headEnd len="sm" w="sm" type="none"/>
            <a:tailEnd len="sm" w="sm" type="none"/>
          </a:ln>
        </p:spPr>
      </p:cxnSp>
      <p:sp>
        <p:nvSpPr>
          <p:cNvPr id="13" name="Google Shape;13;p2"/>
          <p:cNvSpPr txBox="1"/>
          <p:nvPr>
            <p:ph type="ctrTitle"/>
          </p:nvPr>
        </p:nvSpPr>
        <p:spPr>
          <a:xfrm>
            <a:off x="630600" y="136800"/>
            <a:ext cx="7893000" cy="1853700"/>
          </a:xfrm>
          <a:prstGeom prst="rect">
            <a:avLst/>
          </a:prstGeom>
        </p:spPr>
        <p:txBody>
          <a:bodyPr anchorCtr="0" anchor="b" bIns="91425" lIns="91425" spcFirstLastPara="1" rIns="91425" wrap="square" tIns="91425">
            <a:normAutofit/>
          </a:bodyPr>
          <a:lstStyle>
            <a:lvl1pPr lvl="0">
              <a:spcBef>
                <a:spcPts val="100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4" name="Google Shape;14;p2"/>
          <p:cNvSpPr txBox="1"/>
          <p:nvPr>
            <p:ph idx="1" type="subTitle"/>
          </p:nvPr>
        </p:nvSpPr>
        <p:spPr>
          <a:xfrm>
            <a:off x="630600" y="3228375"/>
            <a:ext cx="7893000" cy="1274100"/>
          </a:xfrm>
          <a:prstGeom prst="rect">
            <a:avLst/>
          </a:prstGeom>
        </p:spPr>
        <p:txBody>
          <a:bodyPr anchorCtr="0" anchor="b" bIns="91425" lIns="91425" spcFirstLastPara="1" rIns="91425" wrap="square" tIns="91425">
            <a:normAutofit/>
          </a:bodyPr>
          <a:lstStyle>
            <a:lvl1pPr lvl="0">
              <a:lnSpc>
                <a:spcPct val="100000"/>
              </a:lnSpc>
              <a:spcBef>
                <a:spcPts val="1000"/>
              </a:spcBef>
              <a:spcAft>
                <a:spcPts val="0"/>
              </a:spcAft>
              <a:buClr>
                <a:schemeClr val="accent6"/>
              </a:buClr>
              <a:buSzPts val="2400"/>
              <a:buNone/>
              <a:defRPr sz="2400">
                <a:solidFill>
                  <a:schemeClr val="accent6"/>
                </a:solidFill>
              </a:defRPr>
            </a:lvl1pPr>
            <a:lvl2pPr lvl="1">
              <a:lnSpc>
                <a:spcPct val="100000"/>
              </a:lnSpc>
              <a:spcBef>
                <a:spcPts val="0"/>
              </a:spcBef>
              <a:spcAft>
                <a:spcPts val="0"/>
              </a:spcAft>
              <a:buClr>
                <a:schemeClr val="accent6"/>
              </a:buClr>
              <a:buSzPts val="2400"/>
              <a:buNone/>
              <a:defRPr sz="2400">
                <a:solidFill>
                  <a:schemeClr val="accent6"/>
                </a:solidFill>
              </a:defRPr>
            </a:lvl2pPr>
            <a:lvl3pPr lvl="2">
              <a:lnSpc>
                <a:spcPct val="100000"/>
              </a:lnSpc>
              <a:spcBef>
                <a:spcPts val="0"/>
              </a:spcBef>
              <a:spcAft>
                <a:spcPts val="0"/>
              </a:spcAft>
              <a:buClr>
                <a:schemeClr val="accent6"/>
              </a:buClr>
              <a:buSzPts val="2400"/>
              <a:buNone/>
              <a:defRPr sz="2400">
                <a:solidFill>
                  <a:schemeClr val="accent6"/>
                </a:solidFill>
              </a:defRPr>
            </a:lvl3pPr>
            <a:lvl4pPr lvl="3">
              <a:lnSpc>
                <a:spcPct val="100000"/>
              </a:lnSpc>
              <a:spcBef>
                <a:spcPts val="0"/>
              </a:spcBef>
              <a:spcAft>
                <a:spcPts val="0"/>
              </a:spcAft>
              <a:buClr>
                <a:schemeClr val="accent6"/>
              </a:buClr>
              <a:buSzPts val="2400"/>
              <a:buNone/>
              <a:defRPr sz="2400">
                <a:solidFill>
                  <a:schemeClr val="accent6"/>
                </a:solidFill>
              </a:defRPr>
            </a:lvl4pPr>
            <a:lvl5pPr lvl="4">
              <a:lnSpc>
                <a:spcPct val="100000"/>
              </a:lnSpc>
              <a:spcBef>
                <a:spcPts val="0"/>
              </a:spcBef>
              <a:spcAft>
                <a:spcPts val="0"/>
              </a:spcAft>
              <a:buClr>
                <a:schemeClr val="accent6"/>
              </a:buClr>
              <a:buSzPts val="2400"/>
              <a:buNone/>
              <a:defRPr sz="2400">
                <a:solidFill>
                  <a:schemeClr val="accent6"/>
                </a:solidFill>
              </a:defRPr>
            </a:lvl5pPr>
            <a:lvl6pPr lvl="5">
              <a:lnSpc>
                <a:spcPct val="100000"/>
              </a:lnSpc>
              <a:spcBef>
                <a:spcPts val="0"/>
              </a:spcBef>
              <a:spcAft>
                <a:spcPts val="0"/>
              </a:spcAft>
              <a:buClr>
                <a:schemeClr val="accent6"/>
              </a:buClr>
              <a:buSzPts val="2400"/>
              <a:buNone/>
              <a:defRPr sz="2400">
                <a:solidFill>
                  <a:schemeClr val="accent6"/>
                </a:solidFill>
              </a:defRPr>
            </a:lvl6pPr>
            <a:lvl7pPr lvl="6">
              <a:lnSpc>
                <a:spcPct val="100000"/>
              </a:lnSpc>
              <a:spcBef>
                <a:spcPts val="0"/>
              </a:spcBef>
              <a:spcAft>
                <a:spcPts val="0"/>
              </a:spcAft>
              <a:buClr>
                <a:schemeClr val="accent6"/>
              </a:buClr>
              <a:buSzPts val="2400"/>
              <a:buNone/>
              <a:defRPr sz="2400">
                <a:solidFill>
                  <a:schemeClr val="accent6"/>
                </a:solidFill>
              </a:defRPr>
            </a:lvl7pPr>
            <a:lvl8pPr lvl="7">
              <a:lnSpc>
                <a:spcPct val="100000"/>
              </a:lnSpc>
              <a:spcBef>
                <a:spcPts val="0"/>
              </a:spcBef>
              <a:spcAft>
                <a:spcPts val="0"/>
              </a:spcAft>
              <a:buClr>
                <a:schemeClr val="accent6"/>
              </a:buClr>
              <a:buSzPts val="2400"/>
              <a:buNone/>
              <a:defRPr sz="2400">
                <a:solidFill>
                  <a:schemeClr val="accent6"/>
                </a:solidFill>
              </a:defRPr>
            </a:lvl8pPr>
            <a:lvl9pPr lvl="8">
              <a:lnSpc>
                <a:spcPct val="100000"/>
              </a:lnSpc>
              <a:spcBef>
                <a:spcPts val="0"/>
              </a:spcBef>
              <a:spcAft>
                <a:spcPts val="0"/>
              </a:spcAft>
              <a:buClr>
                <a:schemeClr val="accent6"/>
              </a:buClr>
              <a:buSzPts val="2400"/>
              <a:buNone/>
              <a:defRPr sz="2400">
                <a:solidFill>
                  <a:schemeClr val="accent6"/>
                </a:solidFill>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title"/>
          </p:nvPr>
        </p:nvSpPr>
        <p:spPr>
          <a:xfrm>
            <a:off x="509550" y="1921350"/>
            <a:ext cx="8124900" cy="1300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p:nvPr/>
        </p:nvSpPr>
        <p:spPr>
          <a:xfrm>
            <a:off x="-125" y="5045700"/>
            <a:ext cx="9144000" cy="97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 name="Google Shape;23;p4"/>
          <p:cNvCxnSpPr/>
          <p:nvPr/>
        </p:nvCxnSpPr>
        <p:spPr>
          <a:xfrm>
            <a:off x="419425" y="1154195"/>
            <a:ext cx="385200" cy="0"/>
          </a:xfrm>
          <a:prstGeom prst="straightConnector1">
            <a:avLst/>
          </a:prstGeom>
          <a:noFill/>
          <a:ln cap="flat" cmpd="sng" w="28575">
            <a:solidFill>
              <a:schemeClr val="dk1"/>
            </a:solidFill>
            <a:prstDash val="solid"/>
            <a:round/>
            <a:headEnd len="sm" w="sm" type="none"/>
            <a:tailEnd len="sm" w="sm" type="none"/>
          </a:ln>
        </p:spPr>
      </p:cxnSp>
      <p:sp>
        <p:nvSpPr>
          <p:cNvPr id="24" name="Google Shape;24;p4"/>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4"/>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 name="Google Shape;2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19425" y="1154195"/>
            <a:ext cx="385200" cy="0"/>
          </a:xfrm>
          <a:prstGeom prst="straightConnector1">
            <a:avLst/>
          </a:prstGeom>
          <a:noFill/>
          <a:ln cap="flat" cmpd="sng" w="28575">
            <a:solidFill>
              <a:schemeClr val="dk1"/>
            </a:solidFill>
            <a:prstDash val="solid"/>
            <a:round/>
            <a:headEnd len="sm" w="sm" type="none"/>
            <a:tailEnd len="sm" w="sm" type="none"/>
          </a:ln>
        </p:spPr>
      </p:cxnSp>
      <p:sp>
        <p:nvSpPr>
          <p:cNvPr id="29" name="Google Shape;29;p5"/>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5"/>
          <p:cNvSpPr txBox="1"/>
          <p:nvPr>
            <p:ph idx="1" type="body"/>
          </p:nvPr>
        </p:nvSpPr>
        <p:spPr>
          <a:xfrm>
            <a:off x="311700" y="1417950"/>
            <a:ext cx="3999900" cy="315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417950"/>
            <a:ext cx="3999900" cy="315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cxnSp>
        <p:nvCxnSpPr>
          <p:cNvPr id="37" name="Google Shape;37;p7"/>
          <p:cNvCxnSpPr/>
          <p:nvPr/>
        </p:nvCxnSpPr>
        <p:spPr>
          <a:xfrm>
            <a:off x="411044" y="1417772"/>
            <a:ext cx="385200" cy="0"/>
          </a:xfrm>
          <a:prstGeom prst="straightConnector1">
            <a:avLst/>
          </a:prstGeom>
          <a:noFill/>
          <a:ln cap="flat" cmpd="sng" w="28575">
            <a:solidFill>
              <a:schemeClr val="dk1"/>
            </a:solidFill>
            <a:prstDash val="solid"/>
            <a:round/>
            <a:headEnd len="sm" w="sm" type="none"/>
            <a:tailEnd len="sm" w="sm" type="none"/>
          </a:ln>
        </p:spPr>
      </p:cxnSp>
      <p:sp>
        <p:nvSpPr>
          <p:cNvPr id="38" name="Google Shape;38;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 name="Google Shape;39;p7"/>
          <p:cNvSpPr txBox="1"/>
          <p:nvPr>
            <p:ph idx="1" type="body"/>
          </p:nvPr>
        </p:nvSpPr>
        <p:spPr>
          <a:xfrm>
            <a:off x="311700" y="1640350"/>
            <a:ext cx="2808000" cy="2928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p8"/>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8"/>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5" name="Google Shape;4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 name="Google Shape;4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9" name="Google Shape;49;p9"/>
          <p:cNvSpPr txBox="1"/>
          <p:nvPr>
            <p:ph type="title"/>
          </p:nvPr>
        </p:nvSpPr>
        <p:spPr>
          <a:xfrm>
            <a:off x="265500" y="1084625"/>
            <a:ext cx="4045200" cy="17070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0" name="Google Shape;50;p9"/>
          <p:cNvSpPr txBox="1"/>
          <p:nvPr>
            <p:ph idx="1" type="subTitle"/>
          </p:nvPr>
        </p:nvSpPr>
        <p:spPr>
          <a:xfrm>
            <a:off x="265500" y="2845200"/>
            <a:ext cx="4045200" cy="1421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6"/>
              </a:buClr>
              <a:buSzPts val="2100"/>
              <a:buNone/>
              <a:defRPr sz="2100">
                <a:solidFill>
                  <a:schemeClr val="accent6"/>
                </a:solidFill>
              </a:defRPr>
            </a:lvl1pPr>
            <a:lvl2pPr lvl="1" algn="ctr">
              <a:lnSpc>
                <a:spcPct val="100000"/>
              </a:lnSpc>
              <a:spcBef>
                <a:spcPts val="0"/>
              </a:spcBef>
              <a:spcAft>
                <a:spcPts val="0"/>
              </a:spcAft>
              <a:buClr>
                <a:schemeClr val="accent6"/>
              </a:buClr>
              <a:buSzPts val="2100"/>
              <a:buNone/>
              <a:defRPr sz="2100">
                <a:solidFill>
                  <a:schemeClr val="accent6"/>
                </a:solidFill>
              </a:defRPr>
            </a:lvl2pPr>
            <a:lvl3pPr lvl="2" algn="ctr">
              <a:lnSpc>
                <a:spcPct val="100000"/>
              </a:lnSpc>
              <a:spcBef>
                <a:spcPts val="0"/>
              </a:spcBef>
              <a:spcAft>
                <a:spcPts val="0"/>
              </a:spcAft>
              <a:buClr>
                <a:schemeClr val="accent6"/>
              </a:buClr>
              <a:buSzPts val="2100"/>
              <a:buNone/>
              <a:defRPr sz="2100">
                <a:solidFill>
                  <a:schemeClr val="accent6"/>
                </a:solidFill>
              </a:defRPr>
            </a:lvl3pPr>
            <a:lvl4pPr lvl="3" algn="ctr">
              <a:lnSpc>
                <a:spcPct val="100000"/>
              </a:lnSpc>
              <a:spcBef>
                <a:spcPts val="0"/>
              </a:spcBef>
              <a:spcAft>
                <a:spcPts val="0"/>
              </a:spcAft>
              <a:buClr>
                <a:schemeClr val="accent6"/>
              </a:buClr>
              <a:buSzPts val="2100"/>
              <a:buNone/>
              <a:defRPr sz="2100">
                <a:solidFill>
                  <a:schemeClr val="accent6"/>
                </a:solidFill>
              </a:defRPr>
            </a:lvl4pPr>
            <a:lvl5pPr lvl="4" algn="ctr">
              <a:lnSpc>
                <a:spcPct val="100000"/>
              </a:lnSpc>
              <a:spcBef>
                <a:spcPts val="0"/>
              </a:spcBef>
              <a:spcAft>
                <a:spcPts val="0"/>
              </a:spcAft>
              <a:buClr>
                <a:schemeClr val="accent6"/>
              </a:buClr>
              <a:buSzPts val="2100"/>
              <a:buNone/>
              <a:defRPr sz="2100">
                <a:solidFill>
                  <a:schemeClr val="accent6"/>
                </a:solidFill>
              </a:defRPr>
            </a:lvl5pPr>
            <a:lvl6pPr lvl="5" algn="ctr">
              <a:lnSpc>
                <a:spcPct val="100000"/>
              </a:lnSpc>
              <a:spcBef>
                <a:spcPts val="0"/>
              </a:spcBef>
              <a:spcAft>
                <a:spcPts val="0"/>
              </a:spcAft>
              <a:buClr>
                <a:schemeClr val="accent6"/>
              </a:buClr>
              <a:buSzPts val="2100"/>
              <a:buNone/>
              <a:defRPr sz="2100">
                <a:solidFill>
                  <a:schemeClr val="accent6"/>
                </a:solidFill>
              </a:defRPr>
            </a:lvl6pPr>
            <a:lvl7pPr lvl="6" algn="ctr">
              <a:lnSpc>
                <a:spcPct val="100000"/>
              </a:lnSpc>
              <a:spcBef>
                <a:spcPts val="0"/>
              </a:spcBef>
              <a:spcAft>
                <a:spcPts val="0"/>
              </a:spcAft>
              <a:buClr>
                <a:schemeClr val="accent6"/>
              </a:buClr>
              <a:buSzPts val="2100"/>
              <a:buNone/>
              <a:defRPr sz="2100">
                <a:solidFill>
                  <a:schemeClr val="accent6"/>
                </a:solidFill>
              </a:defRPr>
            </a:lvl7pPr>
            <a:lvl8pPr lvl="7" algn="ctr">
              <a:lnSpc>
                <a:spcPct val="100000"/>
              </a:lnSpc>
              <a:spcBef>
                <a:spcPts val="0"/>
              </a:spcBef>
              <a:spcAft>
                <a:spcPts val="0"/>
              </a:spcAft>
              <a:buClr>
                <a:schemeClr val="accent6"/>
              </a:buClr>
              <a:buSzPts val="2100"/>
              <a:buNone/>
              <a:defRPr sz="2100">
                <a:solidFill>
                  <a:schemeClr val="accent6"/>
                </a:solidFill>
              </a:defRPr>
            </a:lvl8pPr>
            <a:lvl9pPr lvl="8" algn="ctr">
              <a:lnSpc>
                <a:spcPct val="100000"/>
              </a:lnSpc>
              <a:spcBef>
                <a:spcPts val="0"/>
              </a:spcBef>
              <a:spcAft>
                <a:spcPts val="0"/>
              </a:spcAft>
              <a:buClr>
                <a:schemeClr val="accent6"/>
              </a:buClr>
              <a:buSzPts val="2100"/>
              <a:buNone/>
              <a:defRPr sz="2100">
                <a:solidFill>
                  <a:schemeClr val="accent6"/>
                </a:solidFill>
              </a:defRPr>
            </a:lvl9pPr>
          </a:lstStyle>
          <a:p/>
        </p:txBody>
      </p:sp>
      <p:sp>
        <p:nvSpPr>
          <p:cNvPr id="51" name="Google Shape;5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52" name="Google Shape;5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 name="Shape 53"/>
        <p:cNvGrpSpPr/>
        <p:nvPr/>
      </p:nvGrpSpPr>
      <p:grpSpPr>
        <a:xfrm>
          <a:off x="0" y="0"/>
          <a:ext cx="0" cy="0"/>
          <a:chOff x="0" y="0"/>
          <a:chExt cx="0" cy="0"/>
        </a:xfrm>
      </p:grpSpPr>
      <p:sp>
        <p:nvSpPr>
          <p:cNvPr id="54" name="Google Shape;5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5" name="Google Shape;5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 name="Shape 56"/>
        <p:cNvGrpSpPr/>
        <p:nvPr/>
      </p:nvGrpSpPr>
      <p:grpSpPr>
        <a:xfrm>
          <a:off x="0" y="0"/>
          <a:ext cx="0" cy="0"/>
          <a:chOff x="0" y="0"/>
          <a:chExt cx="0" cy="0"/>
        </a:xfrm>
      </p:grpSpPr>
      <p:sp>
        <p:nvSpPr>
          <p:cNvPr id="57" name="Google Shape;57;p11"/>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1"/>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1"/>
          <p:cNvSpPr txBox="1"/>
          <p:nvPr>
            <p:ph hasCustomPrompt="1" type="title"/>
          </p:nvPr>
        </p:nvSpPr>
        <p:spPr>
          <a:xfrm>
            <a:off x="586725" y="1353788"/>
            <a:ext cx="79707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6"/>
              </a:buClr>
              <a:buSzPts val="10800"/>
              <a:buNone/>
              <a:defRPr sz="10800">
                <a:solidFill>
                  <a:schemeClr val="accent6"/>
                </a:solidFill>
              </a:defRPr>
            </a:lvl1pPr>
            <a:lvl2pPr lvl="1" algn="ctr">
              <a:spcBef>
                <a:spcPts val="0"/>
              </a:spcBef>
              <a:spcAft>
                <a:spcPts val="0"/>
              </a:spcAft>
              <a:buClr>
                <a:schemeClr val="accent6"/>
              </a:buClr>
              <a:buSzPts val="10800"/>
              <a:buNone/>
              <a:defRPr sz="10800">
                <a:solidFill>
                  <a:schemeClr val="accent6"/>
                </a:solidFill>
              </a:defRPr>
            </a:lvl2pPr>
            <a:lvl3pPr lvl="2" algn="ctr">
              <a:spcBef>
                <a:spcPts val="0"/>
              </a:spcBef>
              <a:spcAft>
                <a:spcPts val="0"/>
              </a:spcAft>
              <a:buClr>
                <a:schemeClr val="accent6"/>
              </a:buClr>
              <a:buSzPts val="10800"/>
              <a:buNone/>
              <a:defRPr sz="10800">
                <a:solidFill>
                  <a:schemeClr val="accent6"/>
                </a:solidFill>
              </a:defRPr>
            </a:lvl3pPr>
            <a:lvl4pPr lvl="3" algn="ctr">
              <a:spcBef>
                <a:spcPts val="0"/>
              </a:spcBef>
              <a:spcAft>
                <a:spcPts val="0"/>
              </a:spcAft>
              <a:buClr>
                <a:schemeClr val="accent6"/>
              </a:buClr>
              <a:buSzPts val="10800"/>
              <a:buNone/>
              <a:defRPr sz="10800">
                <a:solidFill>
                  <a:schemeClr val="accent6"/>
                </a:solidFill>
              </a:defRPr>
            </a:lvl4pPr>
            <a:lvl5pPr lvl="4" algn="ctr">
              <a:spcBef>
                <a:spcPts val="0"/>
              </a:spcBef>
              <a:spcAft>
                <a:spcPts val="0"/>
              </a:spcAft>
              <a:buClr>
                <a:schemeClr val="accent6"/>
              </a:buClr>
              <a:buSzPts val="10800"/>
              <a:buNone/>
              <a:defRPr sz="10800">
                <a:solidFill>
                  <a:schemeClr val="accent6"/>
                </a:solidFill>
              </a:defRPr>
            </a:lvl5pPr>
            <a:lvl6pPr lvl="5" algn="ctr">
              <a:spcBef>
                <a:spcPts val="0"/>
              </a:spcBef>
              <a:spcAft>
                <a:spcPts val="0"/>
              </a:spcAft>
              <a:buClr>
                <a:schemeClr val="accent6"/>
              </a:buClr>
              <a:buSzPts val="10800"/>
              <a:buNone/>
              <a:defRPr sz="10800">
                <a:solidFill>
                  <a:schemeClr val="accent6"/>
                </a:solidFill>
              </a:defRPr>
            </a:lvl6pPr>
            <a:lvl7pPr lvl="6" algn="ctr">
              <a:spcBef>
                <a:spcPts val="0"/>
              </a:spcBef>
              <a:spcAft>
                <a:spcPts val="0"/>
              </a:spcAft>
              <a:buClr>
                <a:schemeClr val="accent6"/>
              </a:buClr>
              <a:buSzPts val="10800"/>
              <a:buNone/>
              <a:defRPr sz="10800">
                <a:solidFill>
                  <a:schemeClr val="accent6"/>
                </a:solidFill>
              </a:defRPr>
            </a:lvl7pPr>
            <a:lvl8pPr lvl="7" algn="ctr">
              <a:spcBef>
                <a:spcPts val="0"/>
              </a:spcBef>
              <a:spcAft>
                <a:spcPts val="0"/>
              </a:spcAft>
              <a:buClr>
                <a:schemeClr val="accent6"/>
              </a:buClr>
              <a:buSzPts val="10800"/>
              <a:buNone/>
              <a:defRPr sz="10800">
                <a:solidFill>
                  <a:schemeClr val="accent6"/>
                </a:solidFill>
              </a:defRPr>
            </a:lvl8pPr>
            <a:lvl9pPr lvl="8" algn="ctr">
              <a:spcBef>
                <a:spcPts val="0"/>
              </a:spcBef>
              <a:spcAft>
                <a:spcPts val="0"/>
              </a:spcAft>
              <a:buClr>
                <a:schemeClr val="accent6"/>
              </a:buClr>
              <a:buSzPts val="10800"/>
              <a:buNone/>
              <a:defRPr sz="10800">
                <a:solidFill>
                  <a:schemeClr val="accent6"/>
                </a:solidFill>
              </a:defRPr>
            </a:lvl9pPr>
          </a:lstStyle>
          <a:p>
            <a:r>
              <a:t>xx%</a:t>
            </a:r>
          </a:p>
        </p:txBody>
      </p:sp>
      <p:sp>
        <p:nvSpPr>
          <p:cNvPr id="60" name="Google Shape;60;p11"/>
          <p:cNvSpPr txBox="1"/>
          <p:nvPr>
            <p:ph idx="1" type="body"/>
          </p:nvPr>
        </p:nvSpPr>
        <p:spPr>
          <a:xfrm>
            <a:off x="586725" y="2968388"/>
            <a:ext cx="79707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lue-go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725"/>
            <a:ext cx="8520600" cy="645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417800"/>
            <a:ext cx="8520600" cy="3150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Lato"/>
              <a:buChar char="●"/>
              <a:defRPr sz="1800">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Lato"/>
                <a:ea typeface="Lato"/>
                <a:cs typeface="Lato"/>
                <a:sym typeface="Lato"/>
              </a:defRPr>
            </a:lvl1pPr>
            <a:lvl2pPr lvl="1" algn="r">
              <a:buNone/>
              <a:defRPr sz="1000">
                <a:solidFill>
                  <a:schemeClr val="dk1"/>
                </a:solidFill>
                <a:latin typeface="Lato"/>
                <a:ea typeface="Lato"/>
                <a:cs typeface="Lato"/>
                <a:sym typeface="Lato"/>
              </a:defRPr>
            </a:lvl2pPr>
            <a:lvl3pPr lvl="2" algn="r">
              <a:buNone/>
              <a:defRPr sz="1000">
                <a:solidFill>
                  <a:schemeClr val="dk1"/>
                </a:solidFill>
                <a:latin typeface="Lato"/>
                <a:ea typeface="Lato"/>
                <a:cs typeface="Lato"/>
                <a:sym typeface="Lato"/>
              </a:defRPr>
            </a:lvl3pPr>
            <a:lvl4pPr lvl="3" algn="r">
              <a:buNone/>
              <a:defRPr sz="1000">
                <a:solidFill>
                  <a:schemeClr val="dk1"/>
                </a:solidFill>
                <a:latin typeface="Lato"/>
                <a:ea typeface="Lato"/>
                <a:cs typeface="Lato"/>
                <a:sym typeface="Lato"/>
              </a:defRPr>
            </a:lvl4pPr>
            <a:lvl5pPr lvl="4" algn="r">
              <a:buNone/>
              <a:defRPr sz="1000">
                <a:solidFill>
                  <a:schemeClr val="dk1"/>
                </a:solidFill>
                <a:latin typeface="Lato"/>
                <a:ea typeface="Lato"/>
                <a:cs typeface="Lato"/>
                <a:sym typeface="Lato"/>
              </a:defRPr>
            </a:lvl5pPr>
            <a:lvl6pPr lvl="5" algn="r">
              <a:buNone/>
              <a:defRPr sz="1000">
                <a:solidFill>
                  <a:schemeClr val="dk1"/>
                </a:solidFill>
                <a:latin typeface="Lato"/>
                <a:ea typeface="Lato"/>
                <a:cs typeface="Lato"/>
                <a:sym typeface="Lato"/>
              </a:defRPr>
            </a:lvl6pPr>
            <a:lvl7pPr lvl="6" algn="r">
              <a:buNone/>
              <a:defRPr sz="1000">
                <a:solidFill>
                  <a:schemeClr val="dk1"/>
                </a:solidFill>
                <a:latin typeface="Lato"/>
                <a:ea typeface="Lato"/>
                <a:cs typeface="Lato"/>
                <a:sym typeface="Lato"/>
              </a:defRPr>
            </a:lvl7pPr>
            <a:lvl8pPr lvl="7" algn="r">
              <a:buNone/>
              <a:defRPr sz="1000">
                <a:solidFill>
                  <a:schemeClr val="dk1"/>
                </a:solidFill>
                <a:latin typeface="Lato"/>
                <a:ea typeface="Lato"/>
                <a:cs typeface="Lato"/>
                <a:sym typeface="Lato"/>
              </a:defRPr>
            </a:lvl8pPr>
            <a:lvl9pPr lvl="8" algn="r">
              <a:buNone/>
              <a:defRPr sz="1000">
                <a:solidFill>
                  <a:schemeClr val="dk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3"/>
          <p:cNvSpPr txBox="1"/>
          <p:nvPr>
            <p:ph type="ctrTitle"/>
          </p:nvPr>
        </p:nvSpPr>
        <p:spPr>
          <a:xfrm>
            <a:off x="630600" y="136800"/>
            <a:ext cx="7893000" cy="1853700"/>
          </a:xfrm>
          <a:prstGeom prst="rect">
            <a:avLst/>
          </a:prstGeom>
        </p:spPr>
        <p:txBody>
          <a:bodyPr anchorCtr="0" anchor="b" bIns="91425" lIns="91425" spcFirstLastPara="1" rIns="91425" wrap="square" tIns="91425">
            <a:normAutofit/>
          </a:bodyPr>
          <a:lstStyle/>
          <a:p>
            <a:pPr indent="0" lvl="0" marL="0" rtl="0" algn="l">
              <a:spcBef>
                <a:spcPts val="1000"/>
              </a:spcBef>
              <a:spcAft>
                <a:spcPts val="0"/>
              </a:spcAft>
              <a:buNone/>
            </a:pPr>
            <a:r>
              <a:rPr lang="en"/>
              <a:t>Feeling Work</a:t>
            </a:r>
            <a:endParaRPr/>
          </a:p>
        </p:txBody>
      </p:sp>
      <p:sp>
        <p:nvSpPr>
          <p:cNvPr id="69" name="Google Shape;69;p13"/>
          <p:cNvSpPr txBox="1"/>
          <p:nvPr>
            <p:ph idx="1" type="subTitle"/>
          </p:nvPr>
        </p:nvSpPr>
        <p:spPr>
          <a:xfrm>
            <a:off x="630600" y="3228375"/>
            <a:ext cx="7893000" cy="1274100"/>
          </a:xfrm>
          <a:prstGeom prst="rect">
            <a:avLst/>
          </a:prstGeom>
        </p:spPr>
        <p:txBody>
          <a:bodyPr anchorCtr="0" anchor="b" bIns="91425" lIns="91425" spcFirstLastPara="1" rIns="91425" wrap="square" tIns="91425">
            <a:normAutofit/>
          </a:bodyPr>
          <a:lstStyle/>
          <a:p>
            <a:pPr indent="0" lvl="0" marL="0" rtl="0" algn="l">
              <a:spcBef>
                <a:spcPts val="1000"/>
              </a:spcBef>
              <a:spcAft>
                <a:spcPts val="0"/>
              </a:spcAft>
              <a:buNone/>
            </a:pPr>
            <a:r>
              <a:rPr lang="en"/>
              <a:t>Race, Geographic, Gender, and Mood in Blue-Collar Narratives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ph type="ctrTitle"/>
          </p:nvPr>
        </p:nvSpPr>
        <p:spPr>
          <a:xfrm>
            <a:off x="630600" y="136800"/>
            <a:ext cx="7893000" cy="1853700"/>
          </a:xfrm>
          <a:prstGeom prst="rect">
            <a:avLst/>
          </a:prstGeom>
        </p:spPr>
        <p:txBody>
          <a:bodyPr anchorCtr="0" anchor="b" bIns="91425" lIns="91425" spcFirstLastPara="1" rIns="91425" wrap="square" tIns="91425">
            <a:normAutofit/>
          </a:bodyPr>
          <a:lstStyle/>
          <a:p>
            <a:pPr indent="0" lvl="0" marL="0" rtl="0" algn="l">
              <a:spcBef>
                <a:spcPts val="1000"/>
              </a:spcBef>
              <a:spcAft>
                <a:spcPts val="0"/>
              </a:spcAft>
              <a:buNone/>
            </a:pPr>
            <a:r>
              <a:t/>
            </a:r>
            <a:endParaRPr/>
          </a:p>
        </p:txBody>
      </p:sp>
      <p:sp>
        <p:nvSpPr>
          <p:cNvPr id="75" name="Google Shape;75;p14"/>
          <p:cNvSpPr txBox="1"/>
          <p:nvPr>
            <p:ph idx="1" type="subTitle"/>
          </p:nvPr>
        </p:nvSpPr>
        <p:spPr>
          <a:xfrm>
            <a:off x="630600" y="3228375"/>
            <a:ext cx="7893000" cy="1274100"/>
          </a:xfrm>
          <a:prstGeom prst="rect">
            <a:avLst/>
          </a:prstGeom>
        </p:spPr>
        <p:txBody>
          <a:bodyPr anchorCtr="0" anchor="b" bIns="91425" lIns="91425" spcFirstLastPara="1" rIns="91425" wrap="square" tIns="91425">
            <a:normAutofit/>
          </a:bodyPr>
          <a:lstStyle/>
          <a:p>
            <a:pPr indent="0" lvl="0" marL="0" rtl="0" algn="l">
              <a:spcBef>
                <a:spcPts val="1000"/>
              </a:spcBef>
              <a:spcAft>
                <a:spcPts val="0"/>
              </a:spcAft>
              <a:buNone/>
            </a:pPr>
            <a:r>
              <a:t/>
            </a:r>
            <a:endParaRPr/>
          </a:p>
        </p:txBody>
      </p:sp>
      <p:pic>
        <p:nvPicPr>
          <p:cNvPr descr="BMW plant Spartanburg: German car manufacturer plans $100M expansion" id="76" name="Google Shape;76;p14"/>
          <p:cNvPicPr preferRelativeResize="0"/>
          <p:nvPr/>
        </p:nvPicPr>
        <p:blipFill>
          <a:blip r:embed="rId3">
            <a:alphaModFix/>
          </a:blip>
          <a:stretch>
            <a:fillRect/>
          </a:stretch>
        </p:blipFill>
        <p:spPr>
          <a:xfrm>
            <a:off x="320400" y="399613"/>
            <a:ext cx="8513400" cy="425671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256625" y="142250"/>
            <a:ext cx="3283200" cy="1016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000"/>
              <a:t>Research Goals</a:t>
            </a:r>
            <a:endParaRPr sz="2000"/>
          </a:p>
        </p:txBody>
      </p:sp>
      <p:sp>
        <p:nvSpPr>
          <p:cNvPr id="82" name="Google Shape;82;p15"/>
          <p:cNvSpPr txBox="1"/>
          <p:nvPr>
            <p:ph idx="4294967295" type="body"/>
          </p:nvPr>
        </p:nvSpPr>
        <p:spPr>
          <a:xfrm>
            <a:off x="187800" y="1158950"/>
            <a:ext cx="4172700" cy="3195600"/>
          </a:xfrm>
          <a:prstGeom prst="rect">
            <a:avLst/>
          </a:prstGeom>
          <a:solidFill>
            <a:schemeClr val="lt1"/>
          </a:solidFill>
        </p:spPr>
        <p:txBody>
          <a:bodyPr anchorCtr="0" anchor="t" bIns="91425" lIns="91425" spcFirstLastPara="1" rIns="91425" wrap="square" tIns="91425">
            <a:noAutofit/>
          </a:bodyPr>
          <a:lstStyle/>
          <a:p>
            <a:pPr indent="-317500" lvl="0" marL="457200" rtl="0" algn="l">
              <a:lnSpc>
                <a:spcPct val="100000"/>
              </a:lnSpc>
              <a:spcBef>
                <a:spcPts val="1200"/>
              </a:spcBef>
              <a:spcAft>
                <a:spcPts val="0"/>
              </a:spcAft>
              <a:buClr>
                <a:schemeClr val="dk1"/>
              </a:buClr>
              <a:buSzPts val="1400"/>
              <a:buFont typeface="Playfair Display"/>
              <a:buChar char="●"/>
            </a:pPr>
            <a:r>
              <a:rPr b="1" lang="en" sz="1400">
                <a:latin typeface="Playfair Display"/>
                <a:ea typeface="Playfair Display"/>
                <a:cs typeface="Playfair Display"/>
                <a:sym typeface="Playfair Display"/>
              </a:rPr>
              <a:t>Rethink blue-collar work beyond economics</a:t>
            </a:r>
            <a:br>
              <a:rPr b="1" lang="en" sz="1400">
                <a:latin typeface="Playfair Display"/>
                <a:ea typeface="Playfair Display"/>
                <a:cs typeface="Playfair Display"/>
                <a:sym typeface="Playfair Display"/>
              </a:rPr>
            </a:br>
            <a:endParaRPr b="1" sz="1400">
              <a:latin typeface="Playfair Display"/>
              <a:ea typeface="Playfair Display"/>
              <a:cs typeface="Playfair Display"/>
              <a:sym typeface="Playfair Display"/>
            </a:endParaRPr>
          </a:p>
          <a:p>
            <a:pPr indent="-317500" lvl="1" marL="914400" rtl="0" algn="l">
              <a:lnSpc>
                <a:spcPct val="100000"/>
              </a:lnSpc>
              <a:spcBef>
                <a:spcPts val="0"/>
              </a:spcBef>
              <a:spcAft>
                <a:spcPts val="0"/>
              </a:spcAft>
              <a:buClr>
                <a:schemeClr val="dk1"/>
              </a:buClr>
              <a:buSzPts val="1400"/>
              <a:buFont typeface="Playfair Display"/>
              <a:buAutoNum type="alphaLcPeriod"/>
            </a:pPr>
            <a:r>
              <a:rPr lang="en">
                <a:latin typeface="Playfair Display"/>
                <a:ea typeface="Playfair Display"/>
                <a:cs typeface="Playfair Display"/>
                <a:sym typeface="Playfair Display"/>
              </a:rPr>
              <a:t>Not only wages, productivity, or job titles</a:t>
            </a:r>
            <a:br>
              <a:rPr lang="en">
                <a:latin typeface="Playfair Display"/>
                <a:ea typeface="Playfair Display"/>
                <a:cs typeface="Playfair Display"/>
                <a:sym typeface="Playfair Display"/>
              </a:rPr>
            </a:br>
            <a:endParaRPr>
              <a:latin typeface="Playfair Display"/>
              <a:ea typeface="Playfair Display"/>
              <a:cs typeface="Playfair Display"/>
              <a:sym typeface="Playfair Display"/>
            </a:endParaRPr>
          </a:p>
          <a:p>
            <a:pPr indent="-317500" lvl="1" marL="914400" rtl="0" algn="l">
              <a:lnSpc>
                <a:spcPct val="100000"/>
              </a:lnSpc>
              <a:spcBef>
                <a:spcPts val="0"/>
              </a:spcBef>
              <a:spcAft>
                <a:spcPts val="0"/>
              </a:spcAft>
              <a:buClr>
                <a:schemeClr val="dk1"/>
              </a:buClr>
              <a:buSzPts val="1400"/>
              <a:buFont typeface="Playfair Display"/>
              <a:buAutoNum type="alphaLcPeriod"/>
            </a:pPr>
            <a:r>
              <a:rPr lang="en">
                <a:latin typeface="Playfair Display"/>
                <a:ea typeface="Playfair Display"/>
                <a:cs typeface="Playfair Display"/>
                <a:sym typeface="Playfair Display"/>
              </a:rPr>
              <a:t>Attention to feeling, routine, and lived constraint</a:t>
            </a:r>
            <a:br>
              <a:rPr lang="en">
                <a:latin typeface="Playfair Display"/>
                <a:ea typeface="Playfair Display"/>
                <a:cs typeface="Playfair Display"/>
                <a:sym typeface="Playfair Display"/>
              </a:rPr>
            </a:br>
            <a:endParaRPr>
              <a:latin typeface="Playfair Display"/>
              <a:ea typeface="Playfair Display"/>
              <a:cs typeface="Playfair Display"/>
              <a:sym typeface="Playfair Display"/>
            </a:endParaRPr>
          </a:p>
          <a:p>
            <a:pPr indent="-317500" lvl="0" marL="457200" rtl="0" algn="l">
              <a:lnSpc>
                <a:spcPct val="100000"/>
              </a:lnSpc>
              <a:spcBef>
                <a:spcPts val="0"/>
              </a:spcBef>
              <a:spcAft>
                <a:spcPts val="0"/>
              </a:spcAft>
              <a:buClr>
                <a:schemeClr val="dk1"/>
              </a:buClr>
              <a:buSzPts val="1400"/>
              <a:buFont typeface="Playfair Display"/>
              <a:buChar char="●"/>
            </a:pPr>
            <a:r>
              <a:rPr b="1" lang="en" sz="1400">
                <a:latin typeface="Playfair Display"/>
                <a:ea typeface="Playfair Display"/>
                <a:cs typeface="Playfair Display"/>
                <a:sym typeface="Playfair Display"/>
              </a:rPr>
              <a:t>Examine power, erasure, and the archive</a:t>
            </a:r>
            <a:br>
              <a:rPr b="1" lang="en" sz="1400">
                <a:latin typeface="Playfair Display"/>
                <a:ea typeface="Playfair Display"/>
                <a:cs typeface="Playfair Display"/>
                <a:sym typeface="Playfair Display"/>
              </a:rPr>
            </a:br>
            <a:endParaRPr b="1" sz="1400">
              <a:latin typeface="Playfair Display"/>
              <a:ea typeface="Playfair Display"/>
              <a:cs typeface="Playfair Display"/>
              <a:sym typeface="Playfair Display"/>
            </a:endParaRPr>
          </a:p>
          <a:p>
            <a:pPr indent="-317500" lvl="1" marL="914400" rtl="0" algn="l">
              <a:lnSpc>
                <a:spcPct val="100000"/>
              </a:lnSpc>
              <a:spcBef>
                <a:spcPts val="0"/>
              </a:spcBef>
              <a:spcAft>
                <a:spcPts val="0"/>
              </a:spcAft>
              <a:buClr>
                <a:schemeClr val="dk1"/>
              </a:buClr>
              <a:buSzPts val="1400"/>
              <a:buFont typeface="Playfair Display"/>
              <a:buAutoNum type="alphaLcPeriod"/>
            </a:pPr>
            <a:r>
              <a:rPr lang="en">
                <a:latin typeface="Playfair Display"/>
                <a:ea typeface="Playfair Display"/>
                <a:cs typeface="Playfair Display"/>
                <a:sym typeface="Playfair Display"/>
              </a:rPr>
              <a:t>Who gets recorded as a worker</a:t>
            </a:r>
            <a:br>
              <a:rPr lang="en">
                <a:latin typeface="Playfair Display"/>
                <a:ea typeface="Playfair Display"/>
                <a:cs typeface="Playfair Display"/>
                <a:sym typeface="Playfair Display"/>
              </a:rPr>
            </a:br>
            <a:endParaRPr>
              <a:latin typeface="Playfair Display"/>
              <a:ea typeface="Playfair Display"/>
              <a:cs typeface="Playfair Display"/>
              <a:sym typeface="Playfair Display"/>
            </a:endParaRPr>
          </a:p>
          <a:p>
            <a:pPr indent="-317500" lvl="1" marL="914400" rtl="0" algn="l">
              <a:lnSpc>
                <a:spcPct val="100000"/>
              </a:lnSpc>
              <a:spcBef>
                <a:spcPts val="0"/>
              </a:spcBef>
              <a:spcAft>
                <a:spcPts val="0"/>
              </a:spcAft>
              <a:buClr>
                <a:schemeClr val="dk1"/>
              </a:buClr>
              <a:buSzPts val="1400"/>
              <a:buFont typeface="Playfair Display"/>
              <a:buAutoNum type="alphaLcPeriod"/>
            </a:pPr>
            <a:r>
              <a:rPr lang="en">
                <a:latin typeface="Playfair Display"/>
                <a:ea typeface="Playfair Display"/>
                <a:cs typeface="Playfair Display"/>
                <a:sym typeface="Playfair Display"/>
              </a:rPr>
              <a:t>What types of labor and lives disappear</a:t>
            </a:r>
            <a:endParaRPr sz="1900">
              <a:latin typeface="Playfair Display"/>
              <a:ea typeface="Playfair Display"/>
              <a:cs typeface="Playfair Display"/>
              <a:sym typeface="Playfair Display"/>
            </a:endParaRPr>
          </a:p>
        </p:txBody>
      </p:sp>
      <p:sp>
        <p:nvSpPr>
          <p:cNvPr id="83" name="Google Shape;83;p15"/>
          <p:cNvSpPr txBox="1"/>
          <p:nvPr/>
        </p:nvSpPr>
        <p:spPr>
          <a:xfrm>
            <a:off x="4415225" y="1049500"/>
            <a:ext cx="4464900" cy="3201600"/>
          </a:xfrm>
          <a:prstGeom prst="rect">
            <a:avLst/>
          </a:prstGeom>
          <a:noFill/>
          <a:ln>
            <a:noFill/>
          </a:ln>
        </p:spPr>
        <p:txBody>
          <a:bodyPr anchorCtr="0" anchor="t" bIns="91425" lIns="91425" spcFirstLastPara="1" rIns="91425" wrap="square" tIns="91425">
            <a:spAutoFit/>
          </a:bodyPr>
          <a:lstStyle/>
          <a:p>
            <a:pPr indent="-317500" lvl="0" marL="457200" rtl="0" algn="l">
              <a:spcBef>
                <a:spcPts val="1200"/>
              </a:spcBef>
              <a:spcAft>
                <a:spcPts val="0"/>
              </a:spcAft>
              <a:buClr>
                <a:schemeClr val="dk1"/>
              </a:buClr>
              <a:buSzPts val="1400"/>
              <a:buFont typeface="Playfair Display"/>
              <a:buChar char="●"/>
            </a:pPr>
            <a:r>
              <a:rPr b="1" lang="en">
                <a:solidFill>
                  <a:schemeClr val="dk1"/>
                </a:solidFill>
                <a:latin typeface="Playfair Display"/>
                <a:ea typeface="Playfair Display"/>
                <a:cs typeface="Playfair Display"/>
                <a:sym typeface="Playfair Display"/>
              </a:rPr>
              <a:t>Analyze labor through race, place, gender, and mood</a:t>
            </a:r>
            <a:br>
              <a:rPr b="1" lang="en">
                <a:solidFill>
                  <a:schemeClr val="dk1"/>
                </a:solidFill>
                <a:latin typeface="Playfair Display"/>
                <a:ea typeface="Playfair Display"/>
                <a:cs typeface="Playfair Display"/>
                <a:sym typeface="Playfair Display"/>
              </a:rPr>
            </a:br>
            <a:endParaRPr b="1">
              <a:solidFill>
                <a:schemeClr val="dk1"/>
              </a:solidFill>
              <a:latin typeface="Playfair Display"/>
              <a:ea typeface="Playfair Display"/>
              <a:cs typeface="Playfair Display"/>
              <a:sym typeface="Playfair Display"/>
            </a:endParaRPr>
          </a:p>
          <a:p>
            <a:pPr indent="-317500" lvl="1" marL="914400" rtl="0" algn="l">
              <a:spcBef>
                <a:spcPts val="0"/>
              </a:spcBef>
              <a:spcAft>
                <a:spcPts val="0"/>
              </a:spcAft>
              <a:buClr>
                <a:schemeClr val="dk1"/>
              </a:buClr>
              <a:buSzPts val="1400"/>
              <a:buFont typeface="Playfair Display"/>
              <a:buAutoNum type="alphaLcPeriod"/>
            </a:pPr>
            <a:r>
              <a:rPr lang="en">
                <a:solidFill>
                  <a:schemeClr val="dk1"/>
                </a:solidFill>
                <a:latin typeface="Playfair Display"/>
                <a:ea typeface="Playfair Display"/>
                <a:cs typeface="Playfair Display"/>
                <a:sym typeface="Playfair Display"/>
              </a:rPr>
              <a:t>How these factors shape visibility and value</a:t>
            </a:r>
            <a:br>
              <a:rPr lang="en">
                <a:solidFill>
                  <a:schemeClr val="dk1"/>
                </a:solidFill>
                <a:latin typeface="Playfair Display"/>
                <a:ea typeface="Playfair Display"/>
                <a:cs typeface="Playfair Display"/>
                <a:sym typeface="Playfair Display"/>
              </a:rPr>
            </a:br>
            <a:endParaRPr>
              <a:solidFill>
                <a:schemeClr val="dk1"/>
              </a:solidFill>
              <a:latin typeface="Playfair Display"/>
              <a:ea typeface="Playfair Display"/>
              <a:cs typeface="Playfair Display"/>
              <a:sym typeface="Playfair Display"/>
            </a:endParaRPr>
          </a:p>
          <a:p>
            <a:pPr indent="-317500" lvl="1" marL="914400" rtl="0" algn="l">
              <a:spcBef>
                <a:spcPts val="0"/>
              </a:spcBef>
              <a:spcAft>
                <a:spcPts val="0"/>
              </a:spcAft>
              <a:buClr>
                <a:schemeClr val="dk1"/>
              </a:buClr>
              <a:buSzPts val="1400"/>
              <a:buFont typeface="Playfair Display"/>
              <a:buAutoNum type="alphaLcPeriod"/>
            </a:pPr>
            <a:r>
              <a:rPr lang="en">
                <a:solidFill>
                  <a:schemeClr val="dk1"/>
                </a:solidFill>
                <a:latin typeface="Playfair Display"/>
                <a:ea typeface="Playfair Display"/>
                <a:cs typeface="Playfair Display"/>
                <a:sym typeface="Playfair Display"/>
              </a:rPr>
              <a:t>How work is experienced differently across lives</a:t>
            </a:r>
            <a:br>
              <a:rPr lang="en">
                <a:solidFill>
                  <a:schemeClr val="dk1"/>
                </a:solidFill>
                <a:latin typeface="Playfair Display"/>
                <a:ea typeface="Playfair Display"/>
                <a:cs typeface="Playfair Display"/>
                <a:sym typeface="Playfair Display"/>
              </a:rPr>
            </a:br>
            <a:endParaRPr>
              <a:solidFill>
                <a:schemeClr val="dk1"/>
              </a:solidFill>
              <a:latin typeface="Playfair Display"/>
              <a:ea typeface="Playfair Display"/>
              <a:cs typeface="Playfair Display"/>
              <a:sym typeface="Playfair Display"/>
            </a:endParaRPr>
          </a:p>
          <a:p>
            <a:pPr indent="-317500" lvl="0" marL="457200" rtl="0" algn="l">
              <a:spcBef>
                <a:spcPts val="0"/>
              </a:spcBef>
              <a:spcAft>
                <a:spcPts val="0"/>
              </a:spcAft>
              <a:buClr>
                <a:schemeClr val="dk1"/>
              </a:buClr>
              <a:buSzPts val="1400"/>
              <a:buFont typeface="Playfair Display"/>
              <a:buChar char="●"/>
            </a:pPr>
            <a:r>
              <a:rPr b="1" lang="en">
                <a:solidFill>
                  <a:schemeClr val="dk1"/>
                </a:solidFill>
                <a:latin typeface="Playfair Display"/>
                <a:ea typeface="Playfair Display"/>
                <a:cs typeface="Playfair Display"/>
                <a:sym typeface="Playfair Display"/>
              </a:rPr>
              <a:t>Treat culture and lived experience as historical evidence</a:t>
            </a:r>
            <a:br>
              <a:rPr b="1" lang="en">
                <a:solidFill>
                  <a:schemeClr val="dk1"/>
                </a:solidFill>
                <a:latin typeface="Playfair Display"/>
                <a:ea typeface="Playfair Display"/>
                <a:cs typeface="Playfair Display"/>
                <a:sym typeface="Playfair Display"/>
              </a:rPr>
            </a:br>
            <a:endParaRPr b="1">
              <a:solidFill>
                <a:schemeClr val="dk1"/>
              </a:solidFill>
              <a:latin typeface="Playfair Display"/>
              <a:ea typeface="Playfair Display"/>
              <a:cs typeface="Playfair Display"/>
              <a:sym typeface="Playfair Display"/>
            </a:endParaRPr>
          </a:p>
          <a:p>
            <a:pPr indent="-317500" lvl="1" marL="914400" rtl="0" algn="l">
              <a:spcBef>
                <a:spcPts val="0"/>
              </a:spcBef>
              <a:spcAft>
                <a:spcPts val="0"/>
              </a:spcAft>
              <a:buClr>
                <a:schemeClr val="dk1"/>
              </a:buClr>
              <a:buSzPts val="1400"/>
              <a:buFont typeface="Playfair Display"/>
              <a:buAutoNum type="alphaLcPeriod"/>
            </a:pPr>
            <a:r>
              <a:rPr lang="en">
                <a:solidFill>
                  <a:schemeClr val="dk1"/>
                </a:solidFill>
                <a:latin typeface="Playfair Display"/>
                <a:ea typeface="Playfair Display"/>
                <a:cs typeface="Playfair Display"/>
                <a:sym typeface="Playfair Display"/>
              </a:rPr>
              <a:t>Literature, images, oral history, and memory</a:t>
            </a:r>
            <a:endParaRPr sz="1900">
              <a:solidFill>
                <a:schemeClr val="dk1"/>
              </a:solidFill>
              <a:latin typeface="Playfair Display"/>
              <a:ea typeface="Playfair Display"/>
              <a:cs typeface="Playfair Display"/>
              <a:sym typeface="Playfair Displ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t>How I Read Blue Collar Narratives</a:t>
            </a:r>
            <a:endParaRPr sz="2400"/>
          </a:p>
        </p:txBody>
      </p:sp>
      <p:sp>
        <p:nvSpPr>
          <p:cNvPr id="89" name="Google Shape;89;p16"/>
          <p:cNvSpPr txBox="1"/>
          <p:nvPr>
            <p:ph idx="1" type="body"/>
          </p:nvPr>
        </p:nvSpPr>
        <p:spPr>
          <a:xfrm>
            <a:off x="399250" y="1476325"/>
            <a:ext cx="8076000" cy="3217500"/>
          </a:xfrm>
          <a:prstGeom prst="rect">
            <a:avLst/>
          </a:prstGeom>
          <a:solidFill>
            <a:schemeClr val="lt1"/>
          </a:solidFill>
        </p:spPr>
        <p:txBody>
          <a:bodyPr anchorCtr="0" anchor="t" bIns="91425" lIns="91425" spcFirstLastPara="1" rIns="91425" wrap="square" tIns="91425">
            <a:noAutofit/>
          </a:bodyPr>
          <a:lstStyle/>
          <a:p>
            <a:pPr indent="-330200" lvl="0" marL="457200" rtl="0" algn="l">
              <a:lnSpc>
                <a:spcPct val="200000"/>
              </a:lnSpc>
              <a:spcBef>
                <a:spcPts val="0"/>
              </a:spcBef>
              <a:spcAft>
                <a:spcPts val="0"/>
              </a:spcAft>
              <a:buClr>
                <a:schemeClr val="dk1"/>
              </a:buClr>
              <a:buSzPts val="1600"/>
              <a:buFont typeface="Playfair Display"/>
              <a:buChar char="●"/>
            </a:pPr>
            <a:r>
              <a:rPr lang="en" sz="1600">
                <a:latin typeface="Playfair Display"/>
                <a:ea typeface="Playfair Display"/>
                <a:cs typeface="Playfair Display"/>
                <a:sym typeface="Playfair Display"/>
              </a:rPr>
              <a:t>Archive &amp; erasure (Hartman)</a:t>
            </a:r>
            <a:endParaRPr sz="1600">
              <a:latin typeface="Playfair Display"/>
              <a:ea typeface="Playfair Display"/>
              <a:cs typeface="Playfair Display"/>
              <a:sym typeface="Playfair Display"/>
            </a:endParaRPr>
          </a:p>
          <a:p>
            <a:pPr indent="-330200" lvl="1" marL="914400" rtl="0" algn="l">
              <a:lnSpc>
                <a:spcPct val="200000"/>
              </a:lnSpc>
              <a:spcBef>
                <a:spcPts val="0"/>
              </a:spcBef>
              <a:spcAft>
                <a:spcPts val="0"/>
              </a:spcAft>
              <a:buClr>
                <a:schemeClr val="dk1"/>
              </a:buClr>
              <a:buSzPts val="1600"/>
              <a:buFont typeface="Playfair Display"/>
              <a:buAutoNum type="alphaLcPeriod"/>
            </a:pPr>
            <a:r>
              <a:rPr lang="en" sz="1600">
                <a:latin typeface="Playfair Display"/>
                <a:ea typeface="Playfair Display"/>
                <a:cs typeface="Playfair Display"/>
                <a:sym typeface="Playfair Display"/>
              </a:rPr>
              <a:t>Absence, fragments, and power in historical records</a:t>
            </a:r>
            <a:endParaRPr sz="1600">
              <a:latin typeface="Playfair Display"/>
              <a:ea typeface="Playfair Display"/>
              <a:cs typeface="Playfair Display"/>
              <a:sym typeface="Playfair Display"/>
            </a:endParaRPr>
          </a:p>
          <a:p>
            <a:pPr indent="-330200" lvl="0" marL="457200" rtl="0" algn="l">
              <a:lnSpc>
                <a:spcPct val="200000"/>
              </a:lnSpc>
              <a:spcBef>
                <a:spcPts val="0"/>
              </a:spcBef>
              <a:spcAft>
                <a:spcPts val="0"/>
              </a:spcAft>
              <a:buClr>
                <a:schemeClr val="dk1"/>
              </a:buClr>
              <a:buSzPts val="1600"/>
              <a:buFont typeface="Playfair Display"/>
              <a:buChar char="●"/>
            </a:pPr>
            <a:r>
              <a:rPr lang="en" sz="1600">
                <a:latin typeface="Playfair Display"/>
                <a:ea typeface="Playfair Display"/>
                <a:cs typeface="Playfair Display"/>
                <a:sym typeface="Playfair Display"/>
              </a:rPr>
              <a:t>Culture &amp; imagination (Kelley)</a:t>
            </a:r>
            <a:endParaRPr sz="1600">
              <a:latin typeface="Playfair Display"/>
              <a:ea typeface="Playfair Display"/>
              <a:cs typeface="Playfair Display"/>
              <a:sym typeface="Playfair Display"/>
            </a:endParaRPr>
          </a:p>
          <a:p>
            <a:pPr indent="-330200" lvl="1" marL="914400" rtl="0" algn="l">
              <a:lnSpc>
                <a:spcPct val="200000"/>
              </a:lnSpc>
              <a:spcBef>
                <a:spcPts val="0"/>
              </a:spcBef>
              <a:spcAft>
                <a:spcPts val="0"/>
              </a:spcAft>
              <a:buClr>
                <a:schemeClr val="dk1"/>
              </a:buClr>
              <a:buSzPts val="1600"/>
              <a:buFont typeface="Playfair Display"/>
              <a:buAutoNum type="alphaLcPeriod"/>
            </a:pPr>
            <a:r>
              <a:rPr lang="en" sz="1600">
                <a:latin typeface="Playfair Display"/>
                <a:ea typeface="Playfair Display"/>
                <a:cs typeface="Playfair Display"/>
                <a:sym typeface="Playfair Display"/>
              </a:rPr>
              <a:t>Pleasure, creativity, and political possibility</a:t>
            </a:r>
            <a:endParaRPr sz="1600">
              <a:latin typeface="Playfair Display"/>
              <a:ea typeface="Playfair Display"/>
              <a:cs typeface="Playfair Display"/>
              <a:sym typeface="Playfair Display"/>
            </a:endParaRPr>
          </a:p>
          <a:p>
            <a:pPr indent="-330200" lvl="0" marL="457200" rtl="0" algn="l">
              <a:lnSpc>
                <a:spcPct val="200000"/>
              </a:lnSpc>
              <a:spcBef>
                <a:spcPts val="0"/>
              </a:spcBef>
              <a:spcAft>
                <a:spcPts val="0"/>
              </a:spcAft>
              <a:buClr>
                <a:schemeClr val="dk1"/>
              </a:buClr>
              <a:buSzPts val="1600"/>
              <a:buFont typeface="Playfair Display"/>
              <a:buChar char="●"/>
            </a:pPr>
            <a:r>
              <a:rPr lang="en" sz="1600">
                <a:latin typeface="Playfair Display"/>
                <a:ea typeface="Playfair Display"/>
                <a:cs typeface="Playfair Display"/>
                <a:sym typeface="Playfair Display"/>
              </a:rPr>
              <a:t>Collective mood &amp; feeling (Flatley)</a:t>
            </a:r>
            <a:endParaRPr sz="1600">
              <a:latin typeface="Playfair Display"/>
              <a:ea typeface="Playfair Display"/>
              <a:cs typeface="Playfair Display"/>
              <a:sym typeface="Playfair Display"/>
            </a:endParaRPr>
          </a:p>
          <a:p>
            <a:pPr indent="-330200" lvl="1" marL="914400" rtl="0" algn="l">
              <a:lnSpc>
                <a:spcPct val="200000"/>
              </a:lnSpc>
              <a:spcBef>
                <a:spcPts val="0"/>
              </a:spcBef>
              <a:spcAft>
                <a:spcPts val="0"/>
              </a:spcAft>
              <a:buClr>
                <a:schemeClr val="dk1"/>
              </a:buClr>
              <a:buSzPts val="1600"/>
              <a:buFont typeface="Playfair Display"/>
              <a:buAutoNum type="alphaLcPeriod"/>
            </a:pPr>
            <a:r>
              <a:rPr lang="en" sz="1600">
                <a:latin typeface="Playfair Display"/>
                <a:ea typeface="Playfair Display"/>
                <a:cs typeface="Playfair Display"/>
                <a:sym typeface="Playfair Display"/>
              </a:rPr>
              <a:t>Exhaustion, pressure, and shared emotional life</a:t>
            </a:r>
            <a:endParaRPr sz="1600">
              <a:latin typeface="Playfair Display"/>
              <a:ea typeface="Playfair Display"/>
              <a:cs typeface="Playfair Display"/>
              <a:sym typeface="Playfair Displ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The True Story of the Black Women at ..." id="94" name="Google Shape;94;p17"/>
          <p:cNvPicPr preferRelativeResize="0"/>
          <p:nvPr/>
        </p:nvPicPr>
        <p:blipFill>
          <a:blip r:embed="rId3">
            <a:alphaModFix/>
          </a:blip>
          <a:stretch>
            <a:fillRect/>
          </a:stretch>
        </p:blipFill>
        <p:spPr>
          <a:xfrm>
            <a:off x="0" y="0"/>
            <a:ext cx="4385495" cy="24558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2455875"/>
            <a:ext cx="4385500" cy="2588150"/>
          </a:xfrm>
          <a:prstGeom prst="rect">
            <a:avLst/>
          </a:prstGeom>
          <a:noFill/>
          <a:ln>
            <a:noFill/>
          </a:ln>
        </p:spPr>
      </p:pic>
      <p:pic>
        <p:nvPicPr>
          <p:cNvPr descr="https://www.moma.org/media/W1siZiIsIjMxMTg5OCJdLFsicCIsImNvbnZlcnQiLCItcXVhbGl0eSA5MCAtcmVzaXplIDIwMDB4MjAwMFx1MDAzZSJdXQ.jpg?sha=6cfe577c0976e821&amp;utm_source=chatgpt.com" id="96" name="Google Shape;96;p17"/>
          <p:cNvPicPr preferRelativeResize="0"/>
          <p:nvPr/>
        </p:nvPicPr>
        <p:blipFill>
          <a:blip r:embed="rId5">
            <a:alphaModFix/>
          </a:blip>
          <a:stretch>
            <a:fillRect/>
          </a:stretch>
        </p:blipFill>
        <p:spPr>
          <a:xfrm>
            <a:off x="5809350" y="0"/>
            <a:ext cx="3334658" cy="5044025"/>
          </a:xfrm>
          <a:prstGeom prst="rect">
            <a:avLst/>
          </a:prstGeom>
          <a:noFill/>
          <a:ln>
            <a:noFill/>
          </a:ln>
        </p:spPr>
      </p:pic>
      <p:sp>
        <p:nvSpPr>
          <p:cNvPr id="97" name="Google Shape;97;p17"/>
          <p:cNvSpPr txBox="1"/>
          <p:nvPr/>
        </p:nvSpPr>
        <p:spPr>
          <a:xfrm>
            <a:off x="70575" y="2220575"/>
            <a:ext cx="4385400" cy="4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highlight>
                  <a:schemeClr val="lt1"/>
                </a:highlight>
                <a:latin typeface="Playfair Display"/>
                <a:ea typeface="Playfair Display"/>
                <a:cs typeface="Playfair Display"/>
                <a:sym typeface="Playfair Display"/>
              </a:rPr>
              <a:t>Critical Fabulation - </a:t>
            </a:r>
            <a:r>
              <a:rPr lang="en" sz="1800">
                <a:solidFill>
                  <a:schemeClr val="dk1"/>
                </a:solidFill>
                <a:highlight>
                  <a:schemeClr val="lt1"/>
                </a:highlight>
                <a:latin typeface="Playfair Display"/>
                <a:ea typeface="Playfair Display"/>
                <a:cs typeface="Playfair Display"/>
                <a:sym typeface="Playfair Display"/>
              </a:rPr>
              <a:t>Hidden Figures</a:t>
            </a:r>
            <a:endParaRPr sz="1800">
              <a:solidFill>
                <a:schemeClr val="dk1"/>
              </a:solidFill>
              <a:highlight>
                <a:schemeClr val="lt1"/>
              </a:highlight>
              <a:latin typeface="Playfair Display"/>
              <a:ea typeface="Playfair Display"/>
              <a:cs typeface="Playfair Display"/>
              <a:sym typeface="Playfair Display"/>
            </a:endParaRPr>
          </a:p>
        </p:txBody>
      </p:sp>
      <p:sp>
        <p:nvSpPr>
          <p:cNvPr id="98" name="Google Shape;98;p17"/>
          <p:cNvSpPr txBox="1"/>
          <p:nvPr/>
        </p:nvSpPr>
        <p:spPr>
          <a:xfrm>
            <a:off x="5572175" y="632925"/>
            <a:ext cx="3699600" cy="49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highlight>
                  <a:schemeClr val="lt1"/>
                </a:highlight>
                <a:latin typeface="Playfair Display"/>
                <a:ea typeface="Playfair Display"/>
                <a:cs typeface="Playfair Display"/>
                <a:sym typeface="Playfair Display"/>
              </a:rPr>
              <a:t>Personal Escape - </a:t>
            </a:r>
            <a:r>
              <a:rPr i="1" lang="en" sz="1800">
                <a:solidFill>
                  <a:schemeClr val="dk1"/>
                </a:solidFill>
                <a:highlight>
                  <a:schemeClr val="lt1"/>
                </a:highlight>
                <a:latin typeface="Playfair Display"/>
                <a:ea typeface="Playfair Display"/>
                <a:cs typeface="Playfair Display"/>
                <a:sym typeface="Playfair Display"/>
              </a:rPr>
              <a:t>Migration Series</a:t>
            </a:r>
            <a:endParaRPr i="1" sz="1800">
              <a:solidFill>
                <a:schemeClr val="dk1"/>
              </a:solidFill>
              <a:highlight>
                <a:schemeClr val="lt1"/>
              </a:highlight>
              <a:latin typeface="Playfair Display"/>
              <a:ea typeface="Playfair Display"/>
              <a:cs typeface="Playfair Display"/>
              <a:sym typeface="Playfair Display"/>
            </a:endParaRPr>
          </a:p>
        </p:txBody>
      </p:sp>
    </p:spTree>
  </p:cSld>
  <p:clrMapOvr>
    <a:masterClrMapping/>
  </p:clrMapOvr>
</p:sld>
</file>

<file path=ppt/theme/theme1.xml><?xml version="1.0" encoding="utf-8"?>
<a:theme xmlns:a="http://schemas.openxmlformats.org/drawingml/2006/main" xmlns:r="http://schemas.openxmlformats.org/officeDocument/2006/relationships" name="Blue &amp; Gold">
  <a:themeElements>
    <a:clrScheme name="Blue &amp; Gold">
      <a:dk1>
        <a:srgbClr val="FFFFFF"/>
      </a:dk1>
      <a:lt1>
        <a:srgbClr val="01AFD1"/>
      </a:lt1>
      <a:dk2>
        <a:srgbClr val="1E2D31"/>
      </a:dk2>
      <a:lt2>
        <a:srgbClr val="BFC7CA"/>
      </a:lt2>
      <a:accent1>
        <a:srgbClr val="006F85"/>
      </a:accent1>
      <a:accent2>
        <a:srgbClr val="AF4345"/>
      </a:accent2>
      <a:accent3>
        <a:srgbClr val="47D06A"/>
      </a:accent3>
      <a:accent4>
        <a:srgbClr val="F58F8F"/>
      </a:accent4>
      <a:accent5>
        <a:srgbClr val="F6CD4C"/>
      </a:accent5>
      <a:accent6>
        <a:srgbClr val="F8E71C"/>
      </a:accent6>
      <a:hlink>
        <a:srgbClr val="F6CD4C"/>
      </a:hlink>
      <a:folHlink>
        <a:srgbClr val="F6CD4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